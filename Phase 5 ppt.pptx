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7"/>
  </p:notesMasterIdLst>
  <p:sldIdLst>
    <p:sldId id="256" r:id="rId2"/>
    <p:sldId id="269" r:id="rId3"/>
    <p:sldId id="257" r:id="rId4"/>
    <p:sldId id="275" r:id="rId5"/>
    <p:sldId id="273" r:id="rId6"/>
    <p:sldId id="278" r:id="rId7"/>
    <p:sldId id="272" r:id="rId8"/>
    <p:sldId id="281" r:id="rId9"/>
    <p:sldId id="270" r:id="rId10"/>
    <p:sldId id="282" r:id="rId11"/>
    <p:sldId id="271" r:id="rId12"/>
    <p:sldId id="268" r:id="rId13"/>
    <p:sldId id="277" r:id="rId14"/>
    <p:sldId id="265" r:id="rId15"/>
    <p:sldId id="266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2" autoAdjust="0"/>
    <p:restoredTop sz="94660"/>
  </p:normalViewPr>
  <p:slideViewPr>
    <p:cSldViewPr snapToGrid="0">
      <p:cViewPr varScale="1">
        <p:scale>
          <a:sx n="59" d="100"/>
          <a:sy n="59" d="100"/>
        </p:scale>
        <p:origin x="86" y="9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4" d="100"/>
          <a:sy n="74" d="100"/>
        </p:scale>
        <p:origin x="217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reyasggowda/career_nexu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-399596" y="1006618"/>
            <a:ext cx="12119286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US" altLang="en-US" sz="24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Project Title:</a:t>
            </a:r>
            <a:br>
              <a:rPr lang="en-US" alt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Al-Enhanced Career Guidance System for Personalized Career Pathways</a:t>
            </a:r>
            <a:r>
              <a:rPr lang="en-US" alt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</a:t>
            </a:r>
            <a:r>
              <a:rPr lang="en-US" alt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  ISE_37</a:t>
            </a:r>
          </a:p>
        </p:txBody>
      </p:sp>
      <p:sp>
        <p:nvSpPr>
          <p:cNvPr id="90" name="Google Shape;90;p13"/>
          <p:cNvSpPr txBox="1"/>
          <p:nvPr/>
        </p:nvSpPr>
        <p:spPr>
          <a:xfrm>
            <a:off x="6361581" y="2324100"/>
            <a:ext cx="5632914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45720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lang="en-US" altLang="en-US" sz="17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lang="en-US" altLang="en-US" sz="17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US" altLang="en-US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Mr.</a:t>
            </a:r>
            <a:r>
              <a:rPr lang="en-US" alt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altLang="en-US" sz="1700" b="1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JaiKumar</a:t>
            </a:r>
            <a:endParaRPr lang="en-US" altLang="en-US" sz="17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r>
              <a:rPr lang="en-US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,</a:t>
            </a:r>
            <a:endParaRPr lang="en-GB" sz="17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US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Bangalore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/>
        </p:nvGraphicFramePr>
        <p:xfrm>
          <a:off x="553347" y="2721840"/>
          <a:ext cx="5254887" cy="274326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192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20221ISE0151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20221ISE0132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20221ISE0125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             Shreyas G Gowda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             Amoolya P N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             </a:t>
                      </a:r>
                      <a:r>
                        <a:rPr lang="en-US" sz="1800" u="none" strike="noStrike" cap="none" dirty="0" err="1"/>
                        <a:t>Soujanya</a:t>
                      </a:r>
                      <a:r>
                        <a:rPr lang="en-US" sz="1800" u="none" strike="noStrike" cap="none" dirty="0"/>
                        <a:t> </a:t>
                      </a:r>
                      <a:r>
                        <a:rPr lang="en-US" sz="1800" u="none" strike="noStrike" cap="none" dirty="0" err="1"/>
                        <a:t>Oralagi</a:t>
                      </a:r>
                      <a:endParaRPr lang="en-US"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Review-5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-57915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ISE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US" alt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Zafar Ali Khan 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alt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Ms. Suma N G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US" altLang="en-GB" dirty="0">
                <a:latin typeface="Cambria" panose="02040503050406030204" pitchFamily="18" charset="0"/>
                <a:ea typeface="Cambria" panose="02040503050406030204" pitchFamily="18" charset="0"/>
              </a:rPr>
              <a:t>PSCS_470</a:t>
            </a: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Organization : </a:t>
            </a:r>
            <a:r>
              <a:rPr lang="en-US" sz="8000" dirty="0">
                <a:latin typeface="Cambria" panose="02040503050406030204" pitchFamily="18" charset="0"/>
                <a:ea typeface="Cambria" panose="02040503050406030204" pitchFamily="18" charset="0"/>
              </a:rPr>
              <a:t>AI-enhanced Smart Education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Category </a:t>
            </a:r>
            <a:r>
              <a:rPr lang="en-US" sz="8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:  </a:t>
            </a:r>
            <a:r>
              <a:rPr lang="en-US" sz="8000" dirty="0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</a:p>
          <a:p>
            <a:pPr marL="342900" lvl="0" indent="-1905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6600" dirty="0"/>
              <a:t>	“AI-powered career guidance software platform that provides personalized career</a:t>
            </a:r>
          </a:p>
          <a:p>
            <a:pPr marL="342900" lvl="0" indent="-1905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6600" dirty="0"/>
              <a:t>	 pathways using aptitude analysis, skill gap detection, and predictive forecasting.”</a:t>
            </a:r>
            <a:endParaRPr lang="en-US" altLang="en-US" sz="8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342900" indent="-19050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alt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80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AI-powered career guidance system is designed to provide personalized career pathways for students and professionals by analysing their aptitude, aspirations, abilities, and work experience. Unlike traditional counselling, it leverages AI-driven assessments and predictive analytics</a:t>
            </a:r>
            <a:r>
              <a:rPr lang="en-IN" sz="80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80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recommend tailored career options, highlight future progression opportunities, and suggest targeted learning to fill skill gaps. With an intuitive and user-friendly interface, the system ensures that individuals at any stage— whether exploring initial choices or considering a career shift—receive data-driven, future-oriented guidance aligned with their unique profile and long-term goals</a:t>
            </a:r>
            <a:r>
              <a:rPr lang="en-IN" sz="72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lvl="0" indent="-190500" algn="l">
              <a:lnSpc>
                <a:spcPct val="140000"/>
              </a:lnSpc>
              <a:spcBef>
                <a:spcPts val="0"/>
              </a:spcBef>
              <a:buNone/>
            </a:pPr>
            <a:endParaRPr lang="en-US" altLang="en-US" sz="8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Objectives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127761"/>
            <a:ext cx="106680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Provide AI-powered personalized career guidance..</a:t>
            </a:r>
          </a:p>
          <a:p>
            <a:pPr marL="49530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alt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Assess students aptitude and skills for career mapping .</a:t>
            </a:r>
          </a:p>
          <a:p>
            <a:pPr marL="49530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alt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Identify skill gaps and suggest targeted learning resources.</a:t>
            </a:r>
          </a:p>
          <a:p>
            <a:pPr marL="49530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alt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Deliver holistic education, upskilling and career growth recommendation,</a:t>
            </a:r>
          </a:p>
          <a:p>
            <a:pPr marL="49530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alt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Track student progress and give continuous career guidance updates.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Background and Related work for title Selection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5000" lnSpcReduction="10000"/>
          </a:bodyPr>
          <a:lstStyle/>
          <a:p>
            <a:pPr>
              <a:buFont typeface="Wingdings" panose="05000000000000000000" charset="0"/>
              <a:buChar char="Ø"/>
            </a:pPr>
            <a:r>
              <a:rPr lang="en-US" altLang="en-US" sz="2500" dirty="0">
                <a:latin typeface="Times New Roman" panose="02020603050405020304" charset="0"/>
                <a:cs typeface="Times New Roman" panose="02020603050405020304" charset="0"/>
              </a:rPr>
              <a:t>Traditional career counseling methods are generic and lack personalization.</a:t>
            </a:r>
          </a:p>
          <a:p>
            <a:pPr>
              <a:buFont typeface="Wingdings" panose="05000000000000000000" charset="0"/>
              <a:buChar char="Ø"/>
            </a:pPr>
            <a:endParaRPr lang="en-US" altLang="en-US" sz="2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2500" dirty="0">
                <a:latin typeface="Times New Roman" panose="02020603050405020304" charset="0"/>
                <a:cs typeface="Times New Roman" panose="02020603050405020304" charset="0"/>
              </a:rPr>
              <a:t>Existing tools rely on static aptitude tests with limited adaptability.</a:t>
            </a:r>
          </a:p>
          <a:p>
            <a:pPr>
              <a:buFont typeface="Wingdings" panose="05000000000000000000" charset="0"/>
              <a:buChar char="Ø"/>
            </a:pPr>
            <a:endParaRPr lang="en-US" altLang="en-US" sz="2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2500" dirty="0">
                <a:latin typeface="Times New Roman" panose="02020603050405020304" charset="0"/>
                <a:cs typeface="Times New Roman" panose="02020603050405020304" charset="0"/>
              </a:rPr>
              <a:t>Rapid industry changes create a gap between students skills and job demands.</a:t>
            </a:r>
          </a:p>
          <a:p>
            <a:pPr>
              <a:buFont typeface="Wingdings" panose="05000000000000000000" charset="0"/>
              <a:buChar char="Ø"/>
            </a:pPr>
            <a:endParaRPr lang="en-US" altLang="en-US" sz="2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2500" dirty="0">
                <a:latin typeface="Times New Roman" panose="02020603050405020304" charset="0"/>
                <a:cs typeface="Times New Roman" panose="02020603050405020304" charset="0"/>
              </a:rPr>
              <a:t>AI and data analytics enable personalized and predictive career guidance.</a:t>
            </a:r>
          </a:p>
          <a:p>
            <a:pPr>
              <a:buFont typeface="Wingdings" panose="05000000000000000000" charset="0"/>
              <a:buChar char="Ø"/>
            </a:pPr>
            <a:endParaRPr lang="en-US" altLang="en-US" sz="2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2500" dirty="0">
                <a:latin typeface="Times New Roman" panose="02020603050405020304" charset="0"/>
                <a:cs typeface="Times New Roman" panose="02020603050405020304" charset="0"/>
              </a:rPr>
              <a:t>Growing demand for adaptive career systems due to rapidly changing job markets.</a:t>
            </a:r>
          </a:p>
          <a:p>
            <a:pPr>
              <a:buFont typeface="Wingdings" panose="05000000000000000000" charset="0"/>
              <a:buChar char="Ø"/>
            </a:pPr>
            <a:endParaRPr lang="en-US" altLang="en-US" sz="2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2500" dirty="0">
                <a:latin typeface="Times New Roman" panose="02020603050405020304" charset="0"/>
                <a:cs typeface="Times New Roman" panose="02020603050405020304" charset="0"/>
              </a:rPr>
              <a:t>Helps students make informed decisions and reduce career mismatches.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EVALUATION</a:t>
            </a:r>
            <a:r>
              <a:rPr lang="en-IN" dirty="0"/>
              <a:t>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AND RESULTS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229032"/>
            <a:ext cx="10668000" cy="5496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190500" algn="just">
              <a:lnSpc>
                <a:spcPct val="50000"/>
              </a:lnSpc>
              <a:spcBef>
                <a:spcPts val="0"/>
              </a:spcBef>
              <a:buSzPct val="100000"/>
              <a:buNone/>
            </a:pPr>
            <a:r>
              <a:rPr lang="en-US" sz="19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              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3537F1-A0A2-47CE-A2EE-B85243D8A9A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12800" y="2356737"/>
            <a:ext cx="5435598" cy="2477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2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Testing Methodology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Black-box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White-box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User-centric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AI output evaluation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931625-86CF-493B-AEC2-C9A296FCC48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12799" y="1647102"/>
            <a:ext cx="10112375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1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Test Environment                                              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Local machine specs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Software stack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Offline inference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058778"/>
            <a:ext cx="10668000" cy="5069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buNone/>
            </a:pPr>
            <a:r>
              <a:rPr lang="en-US" sz="2000" b="1" dirty="0">
                <a:latin typeface="+mj-lt"/>
              </a:rPr>
              <a:t>3. Test Cases &amp; Results</a:t>
            </a:r>
            <a:endParaRPr lang="en-US" sz="18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Registration test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Onboarding test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Dashboard generation test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Chat personalization test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Profile editing test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Offline mode test</a:t>
            </a:r>
          </a:p>
          <a:p>
            <a:pPr marL="76200" indent="0">
              <a:buNone/>
            </a:pPr>
            <a:endParaRPr lang="en-US" sz="1800" dirty="0">
              <a:latin typeface="+mj-lt"/>
            </a:endParaRPr>
          </a:p>
          <a:p>
            <a:pPr marL="76200" indent="0">
              <a:buNone/>
            </a:pPr>
            <a:r>
              <a:rPr lang="en-IN" sz="2000" b="1" dirty="0"/>
              <a:t>4</a:t>
            </a:r>
            <a:r>
              <a:rPr lang="en-IN" sz="2000" b="1" dirty="0">
                <a:latin typeface="+mj-lt"/>
              </a:rPr>
              <a:t>. Performance Evaluation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+mn-lt"/>
              </a:rPr>
              <a:t>Dashboard AI response time: 3–8 sec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+mn-lt"/>
              </a:rPr>
              <a:t>Chat response time: 1–4 sec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+mn-lt"/>
              </a:rPr>
              <a:t>AI recommendation scoring table </a:t>
            </a:r>
          </a:p>
          <a:p>
            <a:pPr marL="342900" lvl="0" indent="-190500" algn="just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sz="19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342900" lvl="0" indent="-190500" algn="just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sz="19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379621"/>
            <a:ext cx="10668000" cy="4860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buNone/>
            </a:pPr>
            <a:r>
              <a:rPr lang="en-US" sz="2000" b="1" dirty="0">
                <a:latin typeface="+mj-lt"/>
              </a:rPr>
              <a:t>5. Usability Evaluation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User feedback summary (</a:t>
            </a:r>
            <a:r>
              <a:rPr lang="en-US" sz="1800" dirty="0" err="1">
                <a:latin typeface="+mn-lt"/>
              </a:rPr>
              <a:t>pg</a:t>
            </a:r>
            <a:r>
              <a:rPr lang="en-US" sz="1800" dirty="0">
                <a:latin typeface="+mn-lt"/>
              </a:rPr>
              <a:t> 71)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92% onboarding ease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88% guidance helpful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100% valued offline privacy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b="1" dirty="0">
              <a:latin typeface="+mn-lt"/>
            </a:endParaRPr>
          </a:p>
          <a:p>
            <a:pPr marL="76200" indent="0">
              <a:buNone/>
            </a:pPr>
            <a:r>
              <a:rPr lang="en-US" sz="2000" b="1" dirty="0">
                <a:latin typeface="+mj-lt"/>
              </a:rPr>
              <a:t>6. Security Evaluation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Hashed credentials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Zero cloud dependency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Sanitized prompts</a:t>
            </a:r>
          </a:p>
          <a:p>
            <a:pPr marL="342900" lvl="0" indent="-19050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sz="20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1D413-5F05-4C32-9DD5-8733EDE94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55705BE-37FF-4BD3-90E5-6A354ECA80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219539"/>
            <a:ext cx="7610475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7. Social, Ethical, Legal and Sustainability Aspects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Social impact: accessibility, inclusiveness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Legal: GDPR compliance via local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Ethical: non-biased recommendations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Sustainable: low carbon footprint (no cloud load)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Safety: psychological safety, harmless responses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8FF13-E7FA-436E-9F9B-7D42C188AE6E}"/>
              </a:ext>
            </a:extLst>
          </p:cNvPr>
          <p:cNvSpPr txBox="1"/>
          <p:nvPr/>
        </p:nvSpPr>
        <p:spPr>
          <a:xfrm>
            <a:off x="812800" y="3281642"/>
            <a:ext cx="60960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8. Future Enhancements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  Resume parsing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  Job-API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  Voice-based guidance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  Advanced psychometric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  Analytics dashboard for institutions</a:t>
            </a:r>
          </a:p>
        </p:txBody>
      </p:sp>
    </p:spTree>
    <p:extLst>
      <p:ext uri="{BB962C8B-B14F-4D97-AF65-F5344CB8AC3E}">
        <p14:creationId xmlns:p14="http://schemas.microsoft.com/office/powerpoint/2010/main" val="4056882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Demo Pictures of The Project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443789"/>
            <a:ext cx="10668000" cy="5414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buNone/>
            </a:pP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6F13C7-A331-4DA8-B1F8-13BD5E7BA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09" y="1032148"/>
            <a:ext cx="5106541" cy="49842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DB8B25-F7E6-42D8-8F06-B5CDFC2888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225" y="1032149"/>
            <a:ext cx="5610364" cy="49842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89CCF-B0A4-40B4-8EF6-1995CDD5E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3035F-1727-407F-BC1E-1F534A7D8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75C857-15E7-48BB-8880-08FD62C47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50" y="1211932"/>
            <a:ext cx="5314950" cy="42622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94716F-6F82-43BF-9CD4-1F88207CA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800" y="1211932"/>
            <a:ext cx="5334000" cy="4262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058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762000" y="1383632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D11DB0-17D6-485E-9FAB-3A26F722A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51509"/>
            <a:ext cx="9334500" cy="47549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/>
          <p:nvPr/>
        </p:nvSpPr>
        <p:spPr>
          <a:xfrm>
            <a:off x="889000" y="1253613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Link: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r>
              <a:rPr lang="en-IN" dirty="0" err="1">
                <a:hlinkClick r:id="rId3"/>
              </a:rPr>
              <a:t>shreyasggowda</a:t>
            </a:r>
            <a:r>
              <a:rPr lang="en-IN" dirty="0">
                <a:hlinkClick r:id="rId3"/>
              </a:rPr>
              <a:t>/</a:t>
            </a:r>
            <a:r>
              <a:rPr lang="en-IN" dirty="0" err="1">
                <a:hlinkClick r:id="rId3"/>
              </a:rPr>
              <a:t>career_nexus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536931-F7CA-4C16-A613-6002EC388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436" y="933929"/>
            <a:ext cx="10668001" cy="499014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</a:t>
            </a:r>
            <a:r>
              <a:rPr lang="en-US" altLang="en-GB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sz="2000" b="1" dirty="0"/>
              <a:t>[1]</a:t>
            </a:r>
            <a:r>
              <a:rPr lang="en-IN" sz="2000" dirty="0"/>
              <a:t> Y. Huang, </a:t>
            </a:r>
            <a:r>
              <a:rPr lang="en-IN" sz="2000" i="1" dirty="0"/>
              <a:t>“Individualized career planning intelligent teaching system for college students based on adaptive artificial intelligence,”</a:t>
            </a:r>
            <a:r>
              <a:rPr lang="en-IN" sz="2000" dirty="0"/>
              <a:t> </a:t>
            </a:r>
            <a:r>
              <a:rPr lang="en-IN" sz="2000" i="1" dirty="0"/>
              <a:t>Journal of Intelligent &amp; Fuzzy Systems</a:t>
            </a:r>
            <a:r>
              <a:rPr lang="en-IN" sz="2000" dirty="0"/>
              <a:t>, vol. 48, no. 2, pp. 1787–1797, 2025.</a:t>
            </a:r>
          </a:p>
          <a:p>
            <a:pPr marL="76200" indent="0">
              <a:buNone/>
            </a:pPr>
            <a:endParaRPr lang="en-IN" sz="2000" dirty="0"/>
          </a:p>
          <a:p>
            <a:r>
              <a:rPr lang="en-IN" sz="2000" b="1" dirty="0"/>
              <a:t>[2]</a:t>
            </a:r>
            <a:r>
              <a:rPr lang="en-IN" sz="2000" dirty="0"/>
              <a:t> V. Vignesh, N. Praveen, and R. Rajesh, </a:t>
            </a:r>
            <a:r>
              <a:rPr lang="en-IN" sz="2000" i="1" dirty="0"/>
              <a:t>“An Intelligent Career Guidance System using Machine Learning,”</a:t>
            </a:r>
            <a:r>
              <a:rPr lang="en-IN" sz="2000" dirty="0"/>
              <a:t> in </a:t>
            </a:r>
            <a:r>
              <a:rPr lang="en-IN" sz="2000" i="1" dirty="0"/>
              <a:t>Proc. Int. Conf. on Computing and Communication Technologies (ICCCT)</a:t>
            </a:r>
            <a:r>
              <a:rPr lang="en-IN" sz="2000" dirty="0"/>
              <a:t>, 2021, pp. 1–6.</a:t>
            </a:r>
          </a:p>
          <a:p>
            <a:pPr marL="76200" indent="0">
              <a:buNone/>
            </a:pPr>
            <a:endParaRPr lang="en-IN" sz="2000" dirty="0"/>
          </a:p>
          <a:p>
            <a:r>
              <a:rPr lang="en-IN" sz="2000" b="1" dirty="0"/>
              <a:t>[3]</a:t>
            </a:r>
            <a:r>
              <a:rPr lang="en-IN" sz="2000" dirty="0"/>
              <a:t> J. </a:t>
            </a:r>
            <a:r>
              <a:rPr lang="en-IN" sz="2000" dirty="0" err="1"/>
              <a:t>Jaspin</a:t>
            </a:r>
            <a:r>
              <a:rPr lang="en-IN" sz="2000" dirty="0"/>
              <a:t> and A. S. Kannan, </a:t>
            </a:r>
            <a:r>
              <a:rPr lang="en-IN" sz="2000" i="1" dirty="0"/>
              <a:t>“AI Assisted Career Guidance and Resume Screening System,”</a:t>
            </a:r>
            <a:r>
              <a:rPr lang="en-IN" sz="2000" dirty="0"/>
              <a:t> in </a:t>
            </a:r>
            <a:r>
              <a:rPr lang="en-IN" sz="2000" i="1" dirty="0"/>
              <a:t>Proc. 2024 Int. Conf. on Smart Systems and Inventive Technology (ICSSIT)</a:t>
            </a:r>
            <a:r>
              <a:rPr lang="en-IN" sz="2000" dirty="0"/>
              <a:t>, 2024, pp. 1462–1469.</a:t>
            </a: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Capston-project_Phase02[1]</Template>
  <TotalTime>46</TotalTime>
  <Words>728</Words>
  <Application>Microsoft Office PowerPoint</Application>
  <PresentationFormat>Widescreen</PresentationFormat>
  <Paragraphs>121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Bookman Old Style</vt:lpstr>
      <vt:lpstr>Calibri</vt:lpstr>
      <vt:lpstr>Cambria</vt:lpstr>
      <vt:lpstr>Times New Roman</vt:lpstr>
      <vt:lpstr>Verdana</vt:lpstr>
      <vt:lpstr>Wingdings</vt:lpstr>
      <vt:lpstr>Bioinformatics</vt:lpstr>
      <vt:lpstr>Project Title:            Al-Enhanced Career Guidance System for Personalized Career Pathways.</vt:lpstr>
      <vt:lpstr>Problem Statement Number: PSCS_470</vt:lpstr>
      <vt:lpstr>Objectives</vt:lpstr>
      <vt:lpstr>Background and Related work for title Selection</vt:lpstr>
      <vt:lpstr>EVALUATION AND RESULTS</vt:lpstr>
      <vt:lpstr>Analysis of Problem Statement</vt:lpstr>
      <vt:lpstr>PowerPoint Presentation</vt:lpstr>
      <vt:lpstr>PowerPoint Presentation</vt:lpstr>
      <vt:lpstr>Demo Pictures of The Project</vt:lpstr>
      <vt:lpstr>PowerPoint Presentation</vt:lpstr>
      <vt:lpstr>PowerPoint Presentation</vt:lpstr>
      <vt:lpstr>Github Link</vt:lpstr>
      <vt:lpstr>Timeline of the Project (Gantt Chart)</vt:lpstr>
      <vt:lpstr>References (IEEE Papers)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            Al-Enhanced Career Guidance System for Personalized Career Pathways.</dc:title>
  <dc:creator>SOUJANYA.20221ISE0125@outlook.com</dc:creator>
  <cp:lastModifiedBy>SOUJANYA.20221ISE0125@outlook.com</cp:lastModifiedBy>
  <cp:revision>6</cp:revision>
  <dcterms:created xsi:type="dcterms:W3CDTF">2025-09-10T18:08:31Z</dcterms:created>
  <dcterms:modified xsi:type="dcterms:W3CDTF">2025-12-01T06:09:38Z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4DA533981C654B9CA5A7164FEA188D4A_12</vt:lpwstr>
  </property>
  <property fmtid="{D5CDD505-2E9C-101B-9397-08002B2CF9AE}" pid="3" name="KSOProductBuildVer">
    <vt:lpwstr>1033-12.2.0.21931</vt:lpwstr>
  </property>
</Properties>
</file>