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5" r:id="rId7"/>
    <p:sldId id="273" r:id="rId8"/>
    <p:sldId id="278" r:id="rId9"/>
    <p:sldId id="272" r:id="rId10"/>
    <p:sldId id="270" r:id="rId11"/>
    <p:sldId id="271" r:id="rId12"/>
    <p:sldId id="280" r:id="rId13"/>
    <p:sldId id="279" r:id="rId14"/>
    <p:sldId id="268" r:id="rId15"/>
    <p:sldId id="277" r:id="rId16"/>
    <p:sldId id="265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2" d="100"/>
          <a:sy n="92" d="100"/>
        </p:scale>
        <p:origin x="3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hreyasggowda/career_nexu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-399596" y="1006618"/>
            <a:ext cx="12119286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Project Title:</a:t>
            </a:r>
            <a:b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Al-Enhanced Career Guidance System for Personalized Career Pathways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ISE_37</a:t>
            </a:r>
            <a:endParaRPr lang="en-US" alt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45720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US" alt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JaiKumar</a:t>
            </a:r>
            <a:endParaRPr lang="en-US" altLang="en-US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,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Bangalore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254887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21212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20221ISE0151</a:t>
                      </a:r>
                      <a:endParaRPr lang="en-US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20221ISE0132</a:t>
                      </a:r>
                      <a:endParaRPr lang="en-US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20221ISE0125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Shreyas G Gowda</a:t>
                      </a:r>
                      <a:endParaRPr lang="en-US" sz="180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Amoolya P N</a:t>
                      </a:r>
                      <a:endParaRPr lang="en-US" sz="180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</a:t>
                      </a:r>
                      <a:r>
                        <a:rPr lang="en-US" sz="1800" u="none" strike="noStrike" cap="none" dirty="0" err="1"/>
                        <a:t>Soujanya</a:t>
                      </a:r>
                      <a:r>
                        <a:rPr lang="en-US" sz="1800" u="none" strike="noStrike" cap="none" dirty="0"/>
                        <a:t> </a:t>
                      </a:r>
                      <a:r>
                        <a:rPr lang="en-US" sz="1800" u="none" strike="noStrike" cap="none" dirty="0" err="1"/>
                        <a:t>Oralagi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ISE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  <a:endParaRPr lang="en-US" alt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  <a:endParaRPr lang="en-US" alt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PSCS_470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 :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AI-enhanced Smart Education</a:t>
            </a:r>
            <a:endParaRPr 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endParaRPr 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“AI-powered career guidance software platform that provides personalized career</a:t>
            </a:r>
            <a:endParaRPr lang="en-US" sz="6600" dirty="0"/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 pathways using aptitude analysis, skill gap detection, and predictive forecasting.”</a:t>
            </a: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sz="8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AI-powered career guidance system is designed to provide personalized career pathways for students and professionals by analysing their aptitude, aspirations, abilities, and work experience. Unlike traditional counselling, it leverages AI-driven assessments and predictive analytics</a:t>
            </a:r>
            <a:r>
              <a:rPr lang="en-IN" sz="80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recommend tailored career options, highlight future progression opportunities, and suggest targeted learning to fill skill gaps. With an intuitive and user-friendly interface, the system ensures that individuals at any stage— whether exploring initial choices or considering a career shift—receive data-driven, future-oriented guidance aligned with their unique profile and long-term goals</a:t>
            </a:r>
            <a:r>
              <a:rPr lang="en-IN" sz="72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72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l">
              <a:lnSpc>
                <a:spcPct val="140000"/>
              </a:lnSpc>
              <a:spcBef>
                <a:spcPts val="0"/>
              </a:spcBef>
              <a:buNone/>
            </a:pP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7761"/>
            <a:ext cx="10668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Provide AI-powered personalized career guidance..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Assess students aptitude and skills for career mapping 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Identify skill gaps and suggest targeted learning resources.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Deliver holistic education, upskilling and career growth recommendation,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Track student progress and give continuous career guidance updates.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Background and Related work for title Selection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Traditional career counseling methods are generic and lack personalization.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Existing tools rely on static aptitude tests with limited adaptability.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Rapid industry changes create a gap between students skills and job demands.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AI and data analytics enable personalized and predictive career guidance.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Growing demand for adaptive career systems due to rapidly changing job markets.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Helps students make informed decisions and reduce career mismatches.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229032"/>
            <a:ext cx="10668000" cy="549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190500" algn="just">
              <a:lnSpc>
                <a:spcPct val="50000"/>
              </a:lnSpc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1. Generic Guidance Systems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Existing career counseling tools provide general suggestions that do not match individual skills, interests, or aspirations.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Students often receive one-size-fits-all recommendations, leading to poor career choices.</a:t>
            </a:r>
            <a:endParaRPr lang="en-IN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2. Mismatch Between Skills and Market Demands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Rapid changes in industries create a gap between student skills and job requirements.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Without proper forecasting, students prepare for careers that may not remain relevant in the future.</a:t>
            </a:r>
            <a:endParaRPr lang="en-US" sz="2000" dirty="0"/>
          </a:p>
          <a:p>
            <a:pPr marL="7620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58778"/>
            <a:ext cx="10668000" cy="506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3. Limited Personalization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methods rely on static aptitude tests and fail to use data-driven insights for tailoring career pathways.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lack of personalization causes career mismatches and underutilization of potential.</a:t>
            </a:r>
            <a:endParaRPr lang="en-US" sz="2000" dirty="0"/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4. Fragmented Information Sources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Career-related information is scattered across multiple platforms, making it hard for students to form a clear pathway.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absence of a unified platform adds to confusion and indecision.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6200" indent="0">
              <a:buNone/>
            </a:pPr>
            <a:r>
              <a:rPr lang="en-US" sz="1800" b="1" dirty="0"/>
              <a:t>5. </a:t>
            </a:r>
            <a:r>
              <a:rPr lang="en-US" sz="2000" b="1" dirty="0"/>
              <a:t>Outcome of the Problem</a:t>
            </a:r>
            <a:endParaRPr lang="en-US" sz="2000" dirty="0"/>
          </a:p>
          <a:p>
            <a:r>
              <a:rPr lang="en-US" sz="2000" dirty="0"/>
              <a:t>Career choices based on peer pressure or incomplete knowledge lead to dissatisfaction, career switching, and skill gaps.</a:t>
            </a:r>
            <a:endParaRPr lang="en-US" sz="2000" dirty="0"/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79621"/>
            <a:ext cx="10668000" cy="486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Generic Guidance Systems</a:t>
            </a:r>
            <a:br>
              <a:rPr lang="en-US" sz="1600" dirty="0"/>
            </a:br>
            <a:r>
              <a:rPr lang="en-US" sz="1600" dirty="0"/>
              <a:t>→ Existing platforms give one-size-fits-all suggestions without considering individual skills and aspirations.</a:t>
            </a:r>
            <a:endParaRPr lang="en-US" sz="1600" dirty="0"/>
          </a:p>
          <a:p>
            <a:r>
              <a:rPr lang="en-US" sz="1600" b="1" dirty="0"/>
              <a:t>Mismatch with Job Market</a:t>
            </a:r>
            <a:br>
              <a:rPr lang="en-US" sz="1600" dirty="0"/>
            </a:br>
            <a:r>
              <a:rPr lang="en-US" sz="1600" dirty="0"/>
              <a:t>→ Rapidly changing industries create a gap between student skills and future job requirements.</a:t>
            </a:r>
            <a:endParaRPr lang="en-US" sz="1600" dirty="0"/>
          </a:p>
          <a:p>
            <a:r>
              <a:rPr lang="en-US" sz="1600" b="1" dirty="0"/>
              <a:t>Limited Personalization</a:t>
            </a:r>
            <a:br>
              <a:rPr lang="en-US" sz="1600" dirty="0"/>
            </a:br>
            <a:r>
              <a:rPr lang="en-US" sz="1600" dirty="0"/>
              <a:t>→ Static aptitude tests lack data-driven insights, leading to mismatches and underutilized potential.</a:t>
            </a:r>
            <a:endParaRPr lang="en-US" sz="1600" dirty="0"/>
          </a:p>
          <a:p>
            <a:r>
              <a:rPr lang="en-US" sz="1600" b="1" dirty="0"/>
              <a:t>Accessibility Issues</a:t>
            </a:r>
            <a:br>
              <a:rPr lang="en-US" sz="1600" dirty="0"/>
            </a:br>
            <a:r>
              <a:rPr lang="en-US" sz="1600" dirty="0"/>
              <a:t>→ Professional career counseling is often unavailable in remote or under-resourced areas.</a:t>
            </a:r>
            <a:endParaRPr lang="en-US" sz="1600" dirty="0"/>
          </a:p>
          <a:p>
            <a:r>
              <a:rPr lang="en-US" sz="1600" b="1" dirty="0"/>
              <a:t>Fragmented Information</a:t>
            </a:r>
            <a:br>
              <a:rPr lang="en-US" sz="1600" dirty="0"/>
            </a:br>
            <a:r>
              <a:rPr lang="en-US" sz="1600" dirty="0"/>
              <a:t>→ Career resources are scattered across multiple platforms, making it hard to form a clear pathway.</a:t>
            </a:r>
            <a:endParaRPr lang="en-US" sz="1600" dirty="0"/>
          </a:p>
          <a:p>
            <a:r>
              <a:rPr lang="en-US" sz="1600" b="1" dirty="0"/>
              <a:t>Uninformed Decisions</a:t>
            </a:r>
            <a:br>
              <a:rPr lang="en-US" sz="1600" dirty="0"/>
            </a:br>
            <a:r>
              <a:rPr lang="en-US" sz="1600" dirty="0"/>
              <a:t>→ Students rely on peer pressure or incomplete knowledge, resulting in dissatisfaction and frequent career switching.</a:t>
            </a:r>
            <a:endParaRPr lang="en-US" sz="1600" dirty="0"/>
          </a:p>
          <a:p>
            <a:pPr marL="342900" lvl="0" indent="-1905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Output: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43789"/>
            <a:ext cx="10668000" cy="541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209" y="1032148"/>
            <a:ext cx="5106541" cy="49842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1032149"/>
            <a:ext cx="5610364" cy="4984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Outputs: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38363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3465"/>
            <a:ext cx="7771765" cy="4828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sample code: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0" y="997530"/>
            <a:ext cx="7513159" cy="52439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– sample code: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0999" y="1143001"/>
            <a:ext cx="7389227" cy="5107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98525" y="1253613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IN" dirty="0" err="1">
                <a:sym typeface="+mn-ea"/>
                <a:hlinkClick r:id="rId1"/>
              </a:rPr>
              <a:t>shreyasggowda</a:t>
            </a:r>
            <a:r>
              <a:rPr lang="en-IN" dirty="0">
                <a:sym typeface="+mn-ea"/>
                <a:hlinkClick r:id="rId1"/>
              </a:rPr>
              <a:t>/</a:t>
            </a:r>
            <a:r>
              <a:rPr lang="en-IN" dirty="0" err="1">
                <a:sym typeface="+mn-ea"/>
                <a:hlinkClick r:id="rId1"/>
              </a:rPr>
              <a:t>career_nexus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36" y="933929"/>
            <a:ext cx="10668001" cy="49901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/>
              <a:t>[1]</a:t>
            </a:r>
            <a:r>
              <a:rPr lang="en-IN" sz="2000" dirty="0"/>
              <a:t> Y. Huang, </a:t>
            </a:r>
            <a:r>
              <a:rPr lang="en-IN" sz="2000" i="1" dirty="0"/>
              <a:t>“Individualized career planning intelligent teaching system for college students based on adaptive artificial intelligence,”</a:t>
            </a:r>
            <a:r>
              <a:rPr lang="en-IN" sz="2000" dirty="0"/>
              <a:t> </a:t>
            </a:r>
            <a:r>
              <a:rPr lang="en-IN" sz="2000" i="1" dirty="0"/>
              <a:t>Journal of Intelligent &amp; Fuzzy Systems</a:t>
            </a:r>
            <a:r>
              <a:rPr lang="en-IN" sz="2000" dirty="0"/>
              <a:t>, vol. 48, no. 2, pp. 1787–1797, 2025.</a:t>
            </a: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[2]</a:t>
            </a:r>
            <a:r>
              <a:rPr lang="en-IN" sz="2000" dirty="0"/>
              <a:t> V. Vignesh, N. Praveen, and R. Rajesh, </a:t>
            </a:r>
            <a:r>
              <a:rPr lang="en-IN" sz="2000" i="1" dirty="0"/>
              <a:t>“An Intelligent Career Guidance System using Machine Learning,”</a:t>
            </a:r>
            <a:r>
              <a:rPr lang="en-IN" sz="2000" dirty="0"/>
              <a:t> in </a:t>
            </a:r>
            <a:r>
              <a:rPr lang="en-IN" sz="2000" i="1" dirty="0"/>
              <a:t>Proc. Int. Conf. on Computing and Communication Technologies (ICCCT)</a:t>
            </a:r>
            <a:r>
              <a:rPr lang="en-IN" sz="2000" dirty="0"/>
              <a:t>, 2021, pp. 1–6.</a:t>
            </a: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[3]</a:t>
            </a:r>
            <a:r>
              <a:rPr lang="en-IN" sz="2000" dirty="0"/>
              <a:t> J. </a:t>
            </a:r>
            <a:r>
              <a:rPr lang="en-IN" sz="2000" dirty="0" err="1"/>
              <a:t>Jaspin</a:t>
            </a:r>
            <a:r>
              <a:rPr lang="en-IN" sz="2000" dirty="0"/>
              <a:t> and A. S. Kannan, </a:t>
            </a:r>
            <a:r>
              <a:rPr lang="en-IN" sz="2000" i="1" dirty="0"/>
              <a:t>“AI Assisted Career Guidance and Resume Screening System,”</a:t>
            </a:r>
            <a:r>
              <a:rPr lang="en-IN" sz="2000" dirty="0"/>
              <a:t> in </a:t>
            </a:r>
            <a:r>
              <a:rPr lang="en-IN" sz="2000" i="1" dirty="0"/>
              <a:t>Proc. 2024 Int. Conf. on Smart Systems and Inventive Technology (ICSSIT)</a:t>
            </a:r>
            <a:r>
              <a:rPr lang="en-IN" sz="2000" dirty="0"/>
              <a:t>, 2024, pp. 1462–1469.</a:t>
            </a:r>
            <a:endParaRPr lang="en-IN" sz="2000" dirty="0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5047</Words>
  <Application>WPS Presentation</Application>
  <PresentationFormat>Widescreen</PresentationFormat>
  <Paragraphs>142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Calibri</vt:lpstr>
      <vt:lpstr>Times New Roman</vt:lpstr>
      <vt:lpstr>Wingdings</vt:lpstr>
      <vt:lpstr>Microsoft YaHei</vt:lpstr>
      <vt:lpstr>Arial Unicode MS</vt:lpstr>
      <vt:lpstr>Bioinformatics</vt:lpstr>
      <vt:lpstr>Project Title:            Al-Enhanced Career Guidance System for Personalized Career Pathways.</vt:lpstr>
      <vt:lpstr>Problem Statement Number: PSCS_470</vt:lpstr>
      <vt:lpstr>Objectives</vt:lpstr>
      <vt:lpstr>Background and Related work for title Selection</vt:lpstr>
      <vt:lpstr>Analysis of Problem Statement</vt:lpstr>
      <vt:lpstr>Analysis of Problem Statement</vt:lpstr>
      <vt:lpstr>Analysis of Problem Statement (contd...)</vt:lpstr>
      <vt:lpstr>Output:</vt:lpstr>
      <vt:lpstr>PowerPoint 演示文稿</vt:lpstr>
      <vt:lpstr>HTML – sample code:</vt:lpstr>
      <vt:lpstr>CSS – sample code:</vt:lpstr>
      <vt:lpstr>Github Link</vt:lpstr>
      <vt:lpstr>Timeline of the Project (Gantt Chart)</vt:lpstr>
      <vt:lpstr>References (IEEE Papers)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Amoolya PN</cp:lastModifiedBy>
  <cp:revision>53</cp:revision>
  <dcterms:created xsi:type="dcterms:W3CDTF">2025-08-17T15:39:00Z</dcterms:created>
  <dcterms:modified xsi:type="dcterms:W3CDTF">2025-12-01T15:17:13Z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4DA533981C654B9CA5A7164FEA188D4A_12</vt:lpwstr>
  </property>
  <property fmtid="{D5CDD505-2E9C-101B-9397-08002B2CF9AE}" pid="3" name="KSOProductBuildVer">
    <vt:lpwstr>1033-12.2.0.23155</vt:lpwstr>
  </property>
</Properties>
</file>